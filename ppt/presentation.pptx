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5" r:id="rId13"/>
    <p:sldId id="296" r:id="rId14"/>
    <p:sldId id="297" r:id="rId15"/>
    <p:sldId id="298" r:id="rId16"/>
    <p:sldId id="29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E19E54-D94A-429B-835A-BACE542D2A30}" v="6" dt="2026-04-09T11:16:17.0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4/9/2026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FF00"/>
                </a:solidFill>
              </a:rPr>
              <a:t>Travel Booking Platform</a:t>
            </a:r>
            <a:br>
              <a:rPr lang="en-US" sz="4000" b="0" dirty="0">
                <a:solidFill>
                  <a:srgbClr val="FF0000"/>
                </a:solidFill>
              </a:rPr>
            </a:br>
            <a:br>
              <a:rPr lang="en-US" sz="4000" b="0" dirty="0">
                <a:solidFill>
                  <a:srgbClr val="FF0000"/>
                </a:solidFill>
              </a:rPr>
            </a:br>
            <a:br>
              <a:rPr lang="en-US" sz="1400" b="0" dirty="0">
                <a:solidFill>
                  <a:srgbClr val="FF0000"/>
                </a:solidFill>
              </a:rPr>
            </a:br>
            <a:r>
              <a:rPr lang="en-US" sz="2400" b="0" dirty="0"/>
              <a:t>Destination Connection Graph System</a:t>
            </a:r>
            <a:br>
              <a:rPr lang="en-US" sz="1400" b="0" dirty="0">
                <a:solidFill>
                  <a:srgbClr val="FF0000"/>
                </a:solidFill>
              </a:rPr>
            </a:br>
            <a:br>
              <a:rPr lang="en-US" sz="1400" b="0" dirty="0">
                <a:solidFill>
                  <a:srgbClr val="FF0000"/>
                </a:solidFill>
              </a:rPr>
            </a:br>
            <a:br>
              <a:rPr lang="en-US" sz="1400" b="0" dirty="0">
                <a:solidFill>
                  <a:srgbClr val="FF0000"/>
                </a:solidFill>
              </a:rPr>
            </a:br>
            <a:br>
              <a:rPr lang="en-US" sz="1400" b="0" dirty="0">
                <a:solidFill>
                  <a:srgbClr val="FF0000"/>
                </a:solidFill>
              </a:rPr>
            </a:br>
            <a:endParaRPr lang="en-US" sz="1400" b="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Presented By:</a:t>
            </a:r>
          </a:p>
          <a:p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Manoj Kumar Reddy</a:t>
            </a:r>
          </a:p>
          <a:p>
            <a:r>
              <a:rPr lang="en-US" sz="2000" dirty="0">
                <a:solidFill>
                  <a:srgbClr val="FF0000"/>
                </a:solidFill>
              </a:rPr>
              <a:t>Kushi Baira</a:t>
            </a:r>
            <a:br>
              <a:rPr lang="en-US" sz="2000" dirty="0">
                <a:solidFill>
                  <a:srgbClr val="FF0000"/>
                </a:solidFill>
              </a:rPr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FD7C-59CF-ECE2-0A90-1C8A237D3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Problem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8A9C3C-75CD-7F07-85E0-E7D0579E2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AD9D8-FA89-0C59-2BE6-366C94ACF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Problem:</a:t>
            </a:r>
            <a:br>
              <a:rPr lang="en-US" dirty="0">
                <a:latin typeface="Bahnschrift Light SemiCondensed" panose="020B0502040204020203" pitchFamily="34" charset="0"/>
              </a:rPr>
            </a:br>
            <a:r>
              <a:rPr lang="en-US" dirty="0">
                <a:latin typeface="Bahnschrift Light SemiCondensed" panose="020B0502040204020203" pitchFamily="34" charset="0"/>
              </a:rPr>
              <a:t>Managing travel routes between multiple destinations manually is difficult and inefficient. Travel agencies need a system to easily manage destinations, routes, and travel prices.</a:t>
            </a:r>
          </a:p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Goal:</a:t>
            </a:r>
            <a:br>
              <a:rPr lang="en-US" dirty="0">
                <a:latin typeface="Bahnschrift Light SemiCondensed" panose="020B0502040204020203" pitchFamily="34" charset="0"/>
              </a:rPr>
            </a:br>
            <a:r>
              <a:rPr lang="en-US" dirty="0">
                <a:latin typeface="Bahnschrift Light SemiCondensed" panose="020B0502040204020203" pitchFamily="34" charset="0"/>
              </a:rPr>
              <a:t>Develop a </a:t>
            </a:r>
            <a:r>
              <a:rPr lang="en-US" b="1" dirty="0">
                <a:latin typeface="Bahnschrift Light SemiCondensed" panose="020B0502040204020203" pitchFamily="34" charset="0"/>
              </a:rPr>
              <a:t>C program</a:t>
            </a:r>
            <a:r>
              <a:rPr lang="en-US" dirty="0">
                <a:latin typeface="Bahnschrift Light SemiCondensed" panose="020B0502040204020203" pitchFamily="34" charset="0"/>
              </a:rPr>
              <a:t> that manages travel destinations and routes using </a:t>
            </a:r>
            <a:r>
              <a:rPr lang="en-US" b="1" dirty="0">
                <a:latin typeface="Bahnschrift Light SemiCondensed" panose="020B0502040204020203" pitchFamily="34" charset="0"/>
              </a:rPr>
              <a:t>Graph Data Structure</a:t>
            </a:r>
            <a:r>
              <a:rPr lang="en-US" dirty="0">
                <a:latin typeface="Bahnschrift Light SemiCondensed" panose="020B0502040204020203" pitchFamily="34" charset="0"/>
              </a:rPr>
              <a:t>, supporting </a:t>
            </a:r>
            <a:r>
              <a:rPr lang="en-US" b="1" dirty="0">
                <a:latin typeface="Bahnschrift Light SemiCondensed" panose="020B0502040204020203" pitchFamily="34" charset="0"/>
              </a:rPr>
              <a:t>CRUD operations and file storage</a:t>
            </a:r>
            <a:r>
              <a:rPr lang="en-US" dirty="0">
                <a:latin typeface="Bahnschrift Light SemiCondensed" panose="020B0502040204020203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09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F3C1B-40CE-B175-9E39-40D1EBCC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Real-world application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45DA73-BAC5-F97D-2176-FBA389D0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CFB9E-4294-1904-3F70-058EE0618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Real-World Applications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Bahnschrift Light SemiCondensed" panose="020B0502040204020203" pitchFamily="34" charset="0"/>
            </a:endParaRPr>
          </a:p>
          <a:p>
            <a:r>
              <a:rPr lang="en-US" dirty="0">
                <a:latin typeface="Bahnschrift Light SemiCondensed" panose="020B0502040204020203" pitchFamily="34" charset="0"/>
              </a:rPr>
              <a:t>• Travel agency route management</a:t>
            </a:r>
            <a:br>
              <a:rPr lang="en-US" dirty="0">
                <a:latin typeface="Bahnschrift Light SemiCondensed" panose="020B0502040204020203" pitchFamily="34" charset="0"/>
              </a:rPr>
            </a:br>
            <a:r>
              <a:rPr lang="en-US" dirty="0">
                <a:latin typeface="Bahnschrift Light SemiCondensed" panose="020B0502040204020203" pitchFamily="34" charset="0"/>
              </a:rPr>
              <a:t>• Airline / bus / train route systems</a:t>
            </a:r>
            <a:br>
              <a:rPr lang="en-US" dirty="0">
                <a:latin typeface="Bahnschrift Light SemiCondensed" panose="020B0502040204020203" pitchFamily="34" charset="0"/>
              </a:rPr>
            </a:br>
            <a:r>
              <a:rPr lang="en-US" dirty="0">
                <a:latin typeface="Bahnschrift Light SemiCondensed" panose="020B0502040204020203" pitchFamily="34" charset="0"/>
              </a:rPr>
              <a:t>• City transport networks</a:t>
            </a:r>
            <a:br>
              <a:rPr lang="en-US" dirty="0">
                <a:latin typeface="Bahnschrift Light SemiCondensed" panose="020B0502040204020203" pitchFamily="34" charset="0"/>
              </a:rPr>
            </a:br>
            <a:r>
              <a:rPr lang="en-US" dirty="0">
                <a:latin typeface="Bahnschrift Light SemiCondensed" panose="020B0502040204020203" pitchFamily="34" charset="0"/>
              </a:rPr>
              <a:t>• Tourism route planning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Benefits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Bahnschrift Light SemiCondensed" panose="020B0502040204020203" pitchFamily="34" charset="0"/>
            </a:endParaRPr>
          </a:p>
          <a:p>
            <a:r>
              <a:rPr lang="en-US" dirty="0">
                <a:latin typeface="Bahnschrift Light SemiCondensed" panose="020B0502040204020203" pitchFamily="34" charset="0"/>
              </a:rPr>
              <a:t>• Easy route search</a:t>
            </a:r>
            <a:br>
              <a:rPr lang="en-US" dirty="0">
                <a:latin typeface="Bahnschrift Light SemiCondensed" panose="020B0502040204020203" pitchFamily="34" charset="0"/>
              </a:rPr>
            </a:br>
            <a:r>
              <a:rPr lang="en-US" dirty="0">
                <a:latin typeface="Bahnschrift Light SemiCondensed" panose="020B0502040204020203" pitchFamily="34" charset="0"/>
              </a:rPr>
              <a:t>• Fast price updates</a:t>
            </a:r>
            <a:br>
              <a:rPr lang="en-US" dirty="0">
                <a:latin typeface="Bahnschrift Light SemiCondensed" panose="020B0502040204020203" pitchFamily="34" charset="0"/>
              </a:rPr>
            </a:br>
            <a:r>
              <a:rPr lang="en-US" dirty="0">
                <a:latin typeface="Bahnschrift Light SemiCondensed" panose="020B0502040204020203" pitchFamily="34" charset="0"/>
              </a:rPr>
              <a:t>• Efficient destination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2986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8B99F-39EA-0A41-013D-AFD000697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 structure used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55281-ECF9-AA20-ACF6-4FA58DA5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81345-496A-EF68-A887-2D9872DBC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Graph Data Structure (Adjacency Matrix)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latin typeface="Bahnschrift Light SemiCondensed" panose="020B0502040204020203" pitchFamily="34" charset="0"/>
              </a:rPr>
              <a:t>Each </a:t>
            </a:r>
            <a:r>
              <a:rPr lang="en-US" b="1" dirty="0">
                <a:latin typeface="Bahnschrift Light SemiCondensed" panose="020B0502040204020203" pitchFamily="34" charset="0"/>
              </a:rPr>
              <a:t>destination = node</a:t>
            </a:r>
            <a:br>
              <a:rPr lang="en-US" dirty="0">
                <a:latin typeface="Bahnschrift Light SemiCondensed" panose="020B0502040204020203" pitchFamily="34" charset="0"/>
              </a:rPr>
            </a:br>
            <a:r>
              <a:rPr lang="en-US" dirty="0">
                <a:latin typeface="Bahnschrift Light SemiCondensed" panose="020B0502040204020203" pitchFamily="34" charset="0"/>
              </a:rPr>
              <a:t>Each </a:t>
            </a:r>
            <a:r>
              <a:rPr lang="en-US" b="1" dirty="0">
                <a:latin typeface="Bahnschrift Light SemiCondensed" panose="020B0502040204020203" pitchFamily="34" charset="0"/>
              </a:rPr>
              <a:t>route = edge</a:t>
            </a:r>
            <a:br>
              <a:rPr lang="en-US" dirty="0">
                <a:latin typeface="Bahnschrift Light SemiCondensed" panose="020B0502040204020203" pitchFamily="34" charset="0"/>
              </a:rPr>
            </a:br>
            <a:r>
              <a:rPr lang="en-US" dirty="0">
                <a:latin typeface="Bahnschrift Light SemiCondensed" panose="020B0502040204020203" pitchFamily="34" charset="0"/>
              </a:rPr>
              <a:t>Edge weight = </a:t>
            </a:r>
            <a:r>
              <a:rPr lang="en-US" b="1" dirty="0">
                <a:latin typeface="Bahnschrift Light SemiCondensed" panose="020B0502040204020203" pitchFamily="34" charset="0"/>
              </a:rPr>
              <a:t>travel price</a:t>
            </a:r>
            <a:endParaRPr lang="en-US" dirty="0">
              <a:latin typeface="Bahnschrift Light SemiCondensed" panose="020B0502040204020203" pitchFamily="34" charset="0"/>
            </a:endParaRP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99A6D1-D1FC-2CB5-3B65-892BB8478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222250"/>
              </p:ext>
            </p:extLst>
          </p:nvPr>
        </p:nvGraphicFramePr>
        <p:xfrm>
          <a:off x="681135" y="4051459"/>
          <a:ext cx="10825065" cy="1463040"/>
        </p:xfrm>
        <a:graphic>
          <a:graphicData uri="http://schemas.openxmlformats.org/drawingml/2006/table">
            <a:tbl>
              <a:tblPr/>
              <a:tblGrid>
                <a:gridCol w="2709765">
                  <a:extLst>
                    <a:ext uri="{9D8B030D-6E8A-4147-A177-3AD203B41FA5}">
                      <a16:colId xmlns:a16="http://schemas.microsoft.com/office/drawing/2014/main" val="1431913976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12702019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4153604253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3460842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Chennai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Delhi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Mumbai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634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Chennai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3000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767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Delhi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2500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810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Mumbai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3000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2500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808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888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DBCB-D019-4F7E-5DF9-1599452F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13F70E-F9FD-68E3-EB84-362485DD4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D9172-34D6-58F5-5155-EDDB96205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Structure Used</a:t>
            </a:r>
            <a:endParaRPr lang="en-IN" sz="2400" dirty="0">
              <a:solidFill>
                <a:schemeClr val="accent1">
                  <a:lumMod val="60000"/>
                  <a:lumOff val="40000"/>
                </a:schemeClr>
              </a:solidFill>
              <a:latin typeface="Bahnschrift Light SemiCondensed" panose="020B0502040204020203" pitchFamily="34" charset="0"/>
            </a:endParaRPr>
          </a:p>
          <a:p>
            <a:r>
              <a:rPr lang="en-IN" sz="2400" dirty="0">
                <a:latin typeface="Bahnschrift Light SemiCondensed" panose="020B0502040204020203" pitchFamily="34" charset="0"/>
              </a:rPr>
              <a:t>typedef struct {</a:t>
            </a:r>
            <a:br>
              <a:rPr lang="en-IN" sz="2400" dirty="0">
                <a:latin typeface="Bahnschrift Light SemiCondensed" panose="020B0502040204020203" pitchFamily="34" charset="0"/>
              </a:rPr>
            </a:br>
            <a:r>
              <a:rPr lang="en-IN" sz="2400" dirty="0">
                <a:latin typeface="Bahnschrift Light SemiCondensed" panose="020B0502040204020203" pitchFamily="34" charset="0"/>
              </a:rPr>
              <a:t>    char destinations[MAX][50];</a:t>
            </a:r>
            <a:br>
              <a:rPr lang="en-IN" sz="2400" dirty="0">
                <a:latin typeface="Bahnschrift Light SemiCondensed" panose="020B0502040204020203" pitchFamily="34" charset="0"/>
              </a:rPr>
            </a:br>
            <a:r>
              <a:rPr lang="en-IN" sz="2400" dirty="0">
                <a:latin typeface="Bahnschrift Light SemiCondensed" panose="020B0502040204020203" pitchFamily="34" charset="0"/>
              </a:rPr>
              <a:t>    int graph[MAX][MAX];</a:t>
            </a:r>
            <a:br>
              <a:rPr lang="en-IN" sz="2400" dirty="0">
                <a:latin typeface="Bahnschrift Light SemiCondensed" panose="020B0502040204020203" pitchFamily="34" charset="0"/>
              </a:rPr>
            </a:br>
            <a:r>
              <a:rPr lang="en-IN" sz="2400" dirty="0">
                <a:latin typeface="Bahnschrift Light SemiCondensed" panose="020B0502040204020203" pitchFamily="34" charset="0"/>
              </a:rPr>
              <a:t>    int destCount;</a:t>
            </a:r>
            <a:br>
              <a:rPr lang="en-IN" sz="2400" dirty="0">
                <a:latin typeface="Bahnschrift Light SemiCondensed" panose="020B0502040204020203" pitchFamily="34" charset="0"/>
              </a:rPr>
            </a:br>
            <a:r>
              <a:rPr lang="en-IN" sz="2400" dirty="0">
                <a:latin typeface="Bahnschrift Light SemiCondensed" panose="020B0502040204020203" pitchFamily="34" charset="0"/>
              </a:rPr>
              <a:t>} TravelGraph;</a:t>
            </a:r>
          </a:p>
          <a:p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Stores:</a:t>
            </a:r>
          </a:p>
          <a:p>
            <a:r>
              <a:rPr lang="en-IN" sz="2400" dirty="0">
                <a:latin typeface="Bahnschrift Light SemiCondensed" panose="020B0502040204020203" pitchFamily="34" charset="0"/>
              </a:rPr>
              <a:t>• Destination names</a:t>
            </a:r>
            <a:br>
              <a:rPr lang="en-IN" sz="2400" dirty="0">
                <a:latin typeface="Bahnschrift Light SemiCondensed" panose="020B0502040204020203" pitchFamily="34" charset="0"/>
              </a:rPr>
            </a:br>
            <a:r>
              <a:rPr lang="en-IN" sz="2400" dirty="0">
                <a:latin typeface="Bahnschrift Light SemiCondensed" panose="020B0502040204020203" pitchFamily="34" charset="0"/>
              </a:rPr>
              <a:t>• Travel connections</a:t>
            </a:r>
            <a:br>
              <a:rPr lang="en-IN" sz="2400" dirty="0">
                <a:latin typeface="Bahnschrift Light SemiCondensed" panose="020B0502040204020203" pitchFamily="34" charset="0"/>
              </a:rPr>
            </a:br>
            <a:r>
              <a:rPr lang="en-IN" sz="2400" dirty="0">
                <a:latin typeface="Bahnschrift Light SemiCondensed" panose="020B0502040204020203" pitchFamily="34" charset="0"/>
              </a:rPr>
              <a:t>• Route prices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2335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6418-B146-BF01-CBDF-E7F933F2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System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FD403C-5217-AF2B-C5BF-DB9414D9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ED4A1-92A3-A366-0CD7-13D332AF2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Design Overview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  <a:latin typeface="Bahnschrift Light SemiCondensed" panose="020B0502040204020203" pitchFamily="34" charset="0"/>
            </a:endParaRPr>
          </a:p>
          <a:p>
            <a:r>
              <a:rPr lang="en-IN" dirty="0">
                <a:latin typeface="Bahnschrift Light SemiCondensed" panose="020B0502040204020203" pitchFamily="34" charset="0"/>
              </a:rPr>
              <a:t>Menu-driven console application.</a:t>
            </a:r>
          </a:p>
          <a:p>
            <a:r>
              <a:rPr lang="en-IN" dirty="0">
                <a:latin typeface="Bahnschrift Light SemiCondensed" panose="020B0502040204020203" pitchFamily="34" charset="0"/>
              </a:rPr>
              <a:t>Operations include:</a:t>
            </a:r>
          </a:p>
          <a:p>
            <a:r>
              <a:rPr lang="en-IN" dirty="0">
                <a:latin typeface="Bahnschrift Light SemiCondensed" panose="020B0502040204020203" pitchFamily="34" charset="0"/>
              </a:rPr>
              <a:t>• Add Destination</a:t>
            </a:r>
            <a:br>
              <a:rPr lang="en-IN" dirty="0">
                <a:latin typeface="Bahnschrift Light SemiCondensed" panose="020B0502040204020203" pitchFamily="34" charset="0"/>
              </a:rPr>
            </a:br>
            <a:r>
              <a:rPr lang="en-IN" dirty="0">
                <a:latin typeface="Bahnschrift Light SemiCondensed" panose="020B0502040204020203" pitchFamily="34" charset="0"/>
              </a:rPr>
              <a:t>• Add Route</a:t>
            </a:r>
            <a:br>
              <a:rPr lang="en-IN" dirty="0">
                <a:latin typeface="Bahnschrift Light SemiCondensed" panose="020B0502040204020203" pitchFamily="34" charset="0"/>
              </a:rPr>
            </a:br>
            <a:r>
              <a:rPr lang="en-IN" dirty="0">
                <a:latin typeface="Bahnschrift Light SemiCondensed" panose="020B0502040204020203" pitchFamily="34" charset="0"/>
              </a:rPr>
              <a:t>• Delete Route</a:t>
            </a:r>
            <a:br>
              <a:rPr lang="en-IN" dirty="0">
                <a:latin typeface="Bahnschrift Light SemiCondensed" panose="020B0502040204020203" pitchFamily="34" charset="0"/>
              </a:rPr>
            </a:br>
            <a:r>
              <a:rPr lang="en-IN" dirty="0">
                <a:latin typeface="Bahnschrift Light SemiCondensed" panose="020B0502040204020203" pitchFamily="34" charset="0"/>
              </a:rPr>
              <a:t>• Update Route</a:t>
            </a:r>
            <a:br>
              <a:rPr lang="en-IN" dirty="0">
                <a:latin typeface="Bahnschrift Light SemiCondensed" panose="020B0502040204020203" pitchFamily="34" charset="0"/>
              </a:rPr>
            </a:br>
            <a:r>
              <a:rPr lang="en-IN" dirty="0">
                <a:latin typeface="Bahnschrift Light SemiCondensed" panose="020B0502040204020203" pitchFamily="34" charset="0"/>
              </a:rPr>
              <a:t>• Search Route</a:t>
            </a:r>
            <a:br>
              <a:rPr lang="en-IN" dirty="0">
                <a:latin typeface="Bahnschrift Light SemiCondensed" panose="020B0502040204020203" pitchFamily="34" charset="0"/>
              </a:rPr>
            </a:br>
            <a:r>
              <a:rPr lang="en-IN" dirty="0">
                <a:latin typeface="Bahnschrift Light SemiCondensed" panose="020B0502040204020203" pitchFamily="34" charset="0"/>
              </a:rPr>
              <a:t>• Book Trip</a:t>
            </a:r>
            <a:br>
              <a:rPr lang="en-IN" dirty="0">
                <a:latin typeface="Bahnschrift Light SemiCondensed" panose="020B0502040204020203" pitchFamily="34" charset="0"/>
              </a:rPr>
            </a:br>
            <a:r>
              <a:rPr lang="en-IN" dirty="0">
                <a:latin typeface="Bahnschrift Light SemiCondensed" panose="020B0502040204020203" pitchFamily="34" charset="0"/>
              </a:rPr>
              <a:t>• Display Graph</a:t>
            </a:r>
          </a:p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File Handling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  <a:latin typeface="Bahnschrift Light SemiCondensed" panose="020B0502040204020203" pitchFamily="34" charset="0"/>
            </a:endParaRPr>
          </a:p>
          <a:p>
            <a:r>
              <a:rPr lang="en-IN" dirty="0">
                <a:latin typeface="Bahnschrift Light SemiCondensed" panose="020B0502040204020203" pitchFamily="34" charset="0"/>
              </a:rPr>
              <a:t>Data stored in:</a:t>
            </a:r>
          </a:p>
          <a:p>
            <a:r>
              <a:rPr lang="en-IN" dirty="0">
                <a:latin typeface="Bahnschrift Light SemiCondensed" panose="020B0502040204020203" pitchFamily="34" charset="0"/>
              </a:rPr>
              <a:t>travel.dat</a:t>
            </a:r>
          </a:p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Flow:</a:t>
            </a:r>
          </a:p>
          <a:p>
            <a:r>
              <a:rPr lang="en-IN" dirty="0">
                <a:latin typeface="Bahnschrift Light SemiCondensed" panose="020B0502040204020203" pitchFamily="34" charset="0"/>
              </a:rPr>
              <a:t>Start → Load Data → Menu → Operation → Save Data → Exit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197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4B95-5C1C-D3B0-34D5-08C805F11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1C222B-9FB7-9518-4BF9-612B112D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E7AC7-50A7-5D08-31D6-138896492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General Steps</a:t>
            </a:r>
            <a:endParaRPr lang="en-IN" sz="2400" dirty="0">
              <a:solidFill>
                <a:schemeClr val="accent1">
                  <a:lumMod val="60000"/>
                  <a:lumOff val="40000"/>
                </a:schemeClr>
              </a:solidFill>
              <a:latin typeface="Bahnschrift Light SemiCondensed" panose="020B0502040204020203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Bahnschrift Light SemiCondensed" panose="020B0502040204020203" pitchFamily="34" charset="0"/>
              </a:rPr>
              <a:t>    Load travel data from file </a:t>
            </a:r>
          </a:p>
          <a:p>
            <a:pPr marL="0" indent="0">
              <a:buNone/>
            </a:pPr>
            <a:r>
              <a:rPr lang="en-IN" sz="2400" dirty="0">
                <a:latin typeface="Bahnschrift Light SemiCondensed" panose="020B0502040204020203" pitchFamily="34" charset="0"/>
              </a:rPr>
              <a:t>    Display menu options </a:t>
            </a:r>
          </a:p>
          <a:p>
            <a:pPr marL="0" indent="0">
              <a:buNone/>
            </a:pPr>
            <a:r>
              <a:rPr lang="en-IN" sz="2400" dirty="0">
                <a:latin typeface="Bahnschrift Light SemiCondensed" panose="020B0502040204020203" pitchFamily="34" charset="0"/>
              </a:rPr>
              <a:t>    Perform selected operation </a:t>
            </a:r>
          </a:p>
          <a:p>
            <a:pPr marL="0" indent="0">
              <a:buNone/>
            </a:pPr>
            <a:r>
              <a:rPr lang="en-IN" sz="2400" dirty="0">
                <a:latin typeface="Bahnschrift Light SemiCondensed" panose="020B0502040204020203" pitchFamily="34" charset="0"/>
              </a:rPr>
              <a:t>    Save updated data </a:t>
            </a:r>
          </a:p>
          <a:p>
            <a:r>
              <a:rPr lang="en-IN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Operations</a:t>
            </a:r>
            <a:endParaRPr lang="en-IN" sz="2400" dirty="0">
              <a:solidFill>
                <a:schemeClr val="accent1">
                  <a:lumMod val="60000"/>
                  <a:lumOff val="40000"/>
                </a:schemeClr>
              </a:solidFill>
              <a:latin typeface="Bahnschrift Light SemiCondensed" panose="020B0502040204020203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Bahnschrift Light SemiCondensed" panose="020B0502040204020203" pitchFamily="34" charset="0"/>
              </a:rPr>
              <a:t>   Add Destination → store new location</a:t>
            </a:r>
            <a:br>
              <a:rPr lang="en-IN" sz="2400" dirty="0">
                <a:latin typeface="Bahnschrift Light SemiCondensed" panose="020B0502040204020203" pitchFamily="34" charset="0"/>
              </a:rPr>
            </a:br>
            <a:r>
              <a:rPr lang="en-IN" sz="2400" dirty="0">
                <a:latin typeface="Bahnschrift Light SemiCondensed" panose="020B0502040204020203" pitchFamily="34" charset="0"/>
              </a:rPr>
              <a:t>   Add Route → connect two destinations   </a:t>
            </a:r>
            <a:br>
              <a:rPr lang="en-IN" sz="2400" dirty="0">
                <a:latin typeface="Bahnschrift Light SemiCondensed" panose="020B0502040204020203" pitchFamily="34" charset="0"/>
              </a:rPr>
            </a:br>
            <a:r>
              <a:rPr lang="en-IN" sz="2400" dirty="0">
                <a:latin typeface="Bahnschrift Light SemiCondensed" panose="020B0502040204020203" pitchFamily="34" charset="0"/>
              </a:rPr>
              <a:t>   Delete Route → remove connection</a:t>
            </a:r>
            <a:br>
              <a:rPr lang="en-IN" sz="2400" dirty="0">
                <a:latin typeface="Bahnschrift Light SemiCondensed" panose="020B0502040204020203" pitchFamily="34" charset="0"/>
              </a:rPr>
            </a:br>
            <a:r>
              <a:rPr lang="en-IN" sz="2400" dirty="0">
                <a:latin typeface="Bahnschrift Light SemiCondensed" panose="020B0502040204020203" pitchFamily="34" charset="0"/>
              </a:rPr>
              <a:t>   Update Route → modify price</a:t>
            </a:r>
            <a:br>
              <a:rPr lang="en-IN" sz="2400" dirty="0">
                <a:latin typeface="Bahnschrift Light SemiCondensed" panose="020B0502040204020203" pitchFamily="34" charset="0"/>
              </a:rPr>
            </a:br>
            <a:r>
              <a:rPr lang="en-IN" sz="2400" dirty="0">
                <a:latin typeface="Bahnschrift Light SemiCondensed" panose="020B0502040204020203" pitchFamily="34" charset="0"/>
              </a:rPr>
              <a:t>   Search Route → display travel cost</a:t>
            </a:r>
            <a:br>
              <a:rPr lang="en-IN" sz="2400" dirty="0">
                <a:latin typeface="Bahnschrift Light SemiCondensed" panose="020B0502040204020203" pitchFamily="34" charset="0"/>
              </a:rPr>
            </a:br>
            <a:r>
              <a:rPr lang="en-IN" sz="2400" dirty="0">
                <a:latin typeface="Bahnschrift Light SemiCondensed" panose="020B0502040204020203" pitchFamily="34" charset="0"/>
              </a:rPr>
              <a:t>   Book Trip → calculate total cost</a:t>
            </a:r>
            <a:br>
              <a:rPr lang="en-IN" sz="2400" dirty="0">
                <a:latin typeface="Bahnschrift Light SemiCondensed" panose="020B0502040204020203" pitchFamily="34" charset="0"/>
              </a:rPr>
            </a:br>
            <a:r>
              <a:rPr lang="en-IN" sz="2400" dirty="0">
                <a:latin typeface="Bahnschrift Light SemiCondensed" panose="020B0502040204020203" pitchFamily="34" charset="0"/>
              </a:rPr>
              <a:t>   Display Graph → show route matrix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1146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F835E-C72D-DFB9-008D-F37EEAE4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C4274A-246F-099B-0CBD-9F930DCB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0B746-4B3D-6E28-C919-24B7936BF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Program Implementation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  <a:latin typeface="Bahnschrift Light SemiCondensed" panose="020B0502040204020203" pitchFamily="34" charset="0"/>
            </a:endParaRPr>
          </a:p>
          <a:p>
            <a:r>
              <a:rPr lang="en-IN" dirty="0">
                <a:latin typeface="Bahnschrift Light SemiCondensed" panose="020B0502040204020203" pitchFamily="34" charset="0"/>
              </a:rPr>
              <a:t>Language: </a:t>
            </a:r>
            <a:r>
              <a:rPr lang="en-IN" b="1" dirty="0">
                <a:latin typeface="Bahnschrift Light SemiCondensed" panose="020B0502040204020203" pitchFamily="34" charset="0"/>
              </a:rPr>
              <a:t>C</a:t>
            </a:r>
            <a:endParaRPr lang="en-IN" dirty="0">
              <a:latin typeface="Bahnschrift Light SemiCondensed" panose="020B0502040204020203" pitchFamily="34" charset="0"/>
            </a:endParaRPr>
          </a:p>
          <a:p>
            <a:r>
              <a:rPr lang="en-IN" dirty="0">
                <a:latin typeface="Bahnschrift Light SemiCondensed" panose="020B0502040204020203" pitchFamily="34" charset="0"/>
              </a:rPr>
              <a:t>Concepts used:</a:t>
            </a:r>
          </a:p>
          <a:p>
            <a:r>
              <a:rPr lang="en-IN" dirty="0">
                <a:latin typeface="Bahnschrift Light SemiCondensed" panose="020B0502040204020203" pitchFamily="34" charset="0"/>
              </a:rPr>
              <a:t>• Graph Data Structure</a:t>
            </a:r>
            <a:br>
              <a:rPr lang="en-IN" dirty="0">
                <a:latin typeface="Bahnschrift Light SemiCondensed" panose="020B0502040204020203" pitchFamily="34" charset="0"/>
              </a:rPr>
            </a:br>
            <a:r>
              <a:rPr lang="en-IN" dirty="0">
                <a:latin typeface="Bahnschrift Light SemiCondensed" panose="020B0502040204020203" pitchFamily="34" charset="0"/>
              </a:rPr>
              <a:t>• Structures</a:t>
            </a:r>
            <a:br>
              <a:rPr lang="en-IN" dirty="0">
                <a:latin typeface="Bahnschrift Light SemiCondensed" panose="020B0502040204020203" pitchFamily="34" charset="0"/>
              </a:rPr>
            </a:br>
            <a:r>
              <a:rPr lang="en-IN" dirty="0">
                <a:latin typeface="Bahnschrift Light SemiCondensed" panose="020B0502040204020203" pitchFamily="34" charset="0"/>
              </a:rPr>
              <a:t>• File Handling</a:t>
            </a:r>
            <a:br>
              <a:rPr lang="en-IN" dirty="0">
                <a:latin typeface="Bahnschrift Light SemiCondensed" panose="020B0502040204020203" pitchFamily="34" charset="0"/>
              </a:rPr>
            </a:br>
            <a:r>
              <a:rPr lang="en-IN" dirty="0">
                <a:latin typeface="Bahnschrift Light SemiCondensed" panose="020B0502040204020203" pitchFamily="34" charset="0"/>
              </a:rPr>
              <a:t>• Menu-Driven Programming</a:t>
            </a:r>
          </a:p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Key Features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  <a:latin typeface="Bahnschrift Light SemiCondensed" panose="020B0502040204020203" pitchFamily="34" charset="0"/>
            </a:endParaRPr>
          </a:p>
          <a:p>
            <a:r>
              <a:rPr lang="en-IN" dirty="0">
                <a:latin typeface="Bahnschrift Light SemiCondensed" panose="020B0502040204020203" pitchFamily="34" charset="0"/>
              </a:rPr>
              <a:t>• Destination management</a:t>
            </a:r>
            <a:br>
              <a:rPr lang="en-IN" dirty="0">
                <a:latin typeface="Bahnschrift Light SemiCondensed" panose="020B0502040204020203" pitchFamily="34" charset="0"/>
              </a:rPr>
            </a:br>
            <a:r>
              <a:rPr lang="en-IN" dirty="0">
                <a:latin typeface="Bahnschrift Light SemiCondensed" panose="020B0502040204020203" pitchFamily="34" charset="0"/>
              </a:rPr>
              <a:t>• Route CRUD operations</a:t>
            </a:r>
            <a:br>
              <a:rPr lang="en-IN" dirty="0">
                <a:latin typeface="Bahnschrift Light SemiCondensed" panose="020B0502040204020203" pitchFamily="34" charset="0"/>
              </a:rPr>
            </a:br>
            <a:r>
              <a:rPr lang="en-IN" dirty="0">
                <a:latin typeface="Bahnschrift Light SemiCondensed" panose="020B0502040204020203" pitchFamily="34" charset="0"/>
              </a:rPr>
              <a:t>• Persistent data storage</a:t>
            </a:r>
            <a:br>
              <a:rPr lang="en-IN" dirty="0">
                <a:latin typeface="Bahnschrift Light SemiCondensed" panose="020B0502040204020203" pitchFamily="34" charset="0"/>
              </a:rPr>
            </a:br>
            <a:r>
              <a:rPr lang="en-IN" dirty="0">
                <a:latin typeface="Bahnschrift Light SemiCondensed" panose="020B0502040204020203" pitchFamily="34" charset="0"/>
              </a:rPr>
              <a:t>• Travel cost calculation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576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C444F-5389-A7FF-1CCE-DAE7DB4BC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Sample output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3E7FFE-70F9-78B4-EE65-FD1074BFA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D6D89-189A-FCE6-9705-26090EE78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F2EBB5-242B-61E9-9622-D52907577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655CEC4-DE40-BBF2-D253-A1F689C679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5601" y="2851735"/>
            <a:ext cx="4915586" cy="2991267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FA9F62D-C99A-4D39-FAE6-B1E05FBA134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990266" y="2727893"/>
            <a:ext cx="4153480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31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11175-ABAA-CC5B-7D38-F76903F2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AB8B43-E285-EB51-B918-EDE297B7D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EDEF6-BB09-F2C2-E8DD-06AE9093C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F4E5C0-B266-11BA-4EE0-FA09B623F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46D6401-CC67-8DBF-BB7D-078345FE04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46760" y="2885077"/>
            <a:ext cx="3353268" cy="2924583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E395D7E-AC6F-4CC5-D4EC-C6C1EB1BA93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75413" y="3156637"/>
            <a:ext cx="5183187" cy="238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99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CD3DC-DC43-2AB3-1CBB-8D83BAABC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68A112-B587-955D-F97C-9ED14FE6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18D36-3F4F-70C5-9A14-3047FB602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25812-2C1C-994D-6A7B-89B1617F5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5AEECE9-972F-6106-2DB6-628FDF1ECA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4500" y="2991266"/>
            <a:ext cx="5157788" cy="2712205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C564E83-11C8-5A5D-DB3B-67BCEE3B23F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61582" y="2508787"/>
            <a:ext cx="5010849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88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829F3-7280-C4C2-44A5-58FCDC9F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9638F2-DCC1-05E3-5B10-31F7B688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C9630-2224-B036-7A5E-479276ECF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0321B-F489-A9E3-4B0A-7A41FEFF4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D1323E0-DABA-91F3-5AD1-2EBA106B64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4500" y="2724002"/>
            <a:ext cx="5157788" cy="3246734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518119A-E3DC-FDD9-929B-8B21F0C07FC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99687" y="3189920"/>
            <a:ext cx="4934639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463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85E67-1F71-0634-236C-65AB9812B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3C6F77-67D9-ED28-AD25-82CF5BAE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F243F-98DA-B991-DA3B-EB85E15AC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600" dirty="0">
                <a:latin typeface="Bahnschrift Light SemiCondensed" panose="020B0502040204020203" pitchFamily="34" charset="0"/>
              </a:rPr>
              <a:t>Successfully implemented a </a:t>
            </a:r>
            <a:r>
              <a:rPr lang="en-IN" sz="2600" b="1" dirty="0">
                <a:latin typeface="Bahnschrift Light SemiCondensed" panose="020B0502040204020203" pitchFamily="34" charset="0"/>
              </a:rPr>
              <a:t>Travel Booking Platform using Graph Data Structure in C</a:t>
            </a:r>
            <a:r>
              <a:rPr lang="en-IN" sz="2600" dirty="0">
                <a:latin typeface="Bahnschrift Light SemiCondensed" panose="020B0502040204020203" pitchFamily="34" charset="0"/>
              </a:rPr>
              <a:t>.</a:t>
            </a:r>
          </a:p>
          <a:p>
            <a:r>
              <a:rPr lang="en-IN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Key Achievements</a:t>
            </a:r>
            <a:endParaRPr lang="en-IN" sz="2600" dirty="0">
              <a:solidFill>
                <a:schemeClr val="accent1">
                  <a:lumMod val="60000"/>
                  <a:lumOff val="40000"/>
                </a:schemeClr>
              </a:solidFill>
              <a:latin typeface="Bahnschrift Light SemiCondensed" panose="020B0502040204020203" pitchFamily="34" charset="0"/>
            </a:endParaRPr>
          </a:p>
          <a:p>
            <a:r>
              <a:rPr lang="en-IN" sz="2600" dirty="0">
                <a:latin typeface="Bahnschrift Light SemiCondensed" panose="020B0502040204020203" pitchFamily="34" charset="0"/>
              </a:rPr>
              <a:t>• Destination and route management</a:t>
            </a:r>
            <a:br>
              <a:rPr lang="en-IN" sz="2600" dirty="0">
                <a:latin typeface="Bahnschrift Light SemiCondensed" panose="020B0502040204020203" pitchFamily="34" charset="0"/>
              </a:rPr>
            </a:br>
            <a:r>
              <a:rPr lang="en-IN" sz="2600" dirty="0">
                <a:latin typeface="Bahnschrift Light SemiCondensed" panose="020B0502040204020203" pitchFamily="34" charset="0"/>
              </a:rPr>
              <a:t>• Graph representation using adjacency matrix</a:t>
            </a:r>
            <a:br>
              <a:rPr lang="en-IN" sz="2600" dirty="0">
                <a:latin typeface="Bahnschrift Light SemiCondensed" panose="020B0502040204020203" pitchFamily="34" charset="0"/>
              </a:rPr>
            </a:br>
            <a:r>
              <a:rPr lang="en-IN" sz="2600" dirty="0">
                <a:latin typeface="Bahnschrift Light SemiCondensed" panose="020B0502040204020203" pitchFamily="34" charset="0"/>
              </a:rPr>
              <a:t>• File handling for data persistence</a:t>
            </a:r>
            <a:br>
              <a:rPr lang="en-IN" sz="2600" dirty="0">
                <a:latin typeface="Bahnschrift Light SemiCondensed" panose="020B0502040204020203" pitchFamily="34" charset="0"/>
              </a:rPr>
            </a:br>
            <a:r>
              <a:rPr lang="en-IN" sz="2600" dirty="0">
                <a:latin typeface="Bahnschrift Light SemiCondensed" panose="020B0502040204020203" pitchFamily="34" charset="0"/>
              </a:rPr>
              <a:t>• Menu-driven system for easy interaction</a:t>
            </a:r>
          </a:p>
          <a:p>
            <a:r>
              <a:rPr lang="en-IN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Future Improvements</a:t>
            </a:r>
            <a:endParaRPr lang="en-IN" sz="2600" dirty="0">
              <a:solidFill>
                <a:schemeClr val="accent1">
                  <a:lumMod val="60000"/>
                  <a:lumOff val="40000"/>
                </a:schemeClr>
              </a:solidFill>
              <a:latin typeface="Bahnschrift Light SemiCondensed" panose="020B0502040204020203" pitchFamily="34" charset="0"/>
            </a:endParaRPr>
          </a:p>
          <a:p>
            <a:r>
              <a:rPr lang="en-IN" sz="2600" dirty="0">
                <a:latin typeface="Bahnschrift Light SemiCondensed" panose="020B0502040204020203" pitchFamily="34" charset="0"/>
              </a:rPr>
              <a:t>• Shortest path algorithms (Dijkstra)</a:t>
            </a:r>
            <a:br>
              <a:rPr lang="en-IN" sz="2600" dirty="0">
                <a:latin typeface="Bahnschrift Light SemiCondensed" panose="020B0502040204020203" pitchFamily="34" charset="0"/>
              </a:rPr>
            </a:br>
            <a:r>
              <a:rPr lang="en-IN" sz="2600" dirty="0">
                <a:latin typeface="Bahnschrift Light SemiCondensed" panose="020B0502040204020203" pitchFamily="34" charset="0"/>
              </a:rPr>
              <a:t>• Online booking system</a:t>
            </a:r>
            <a:br>
              <a:rPr lang="en-IN" sz="2600" dirty="0">
                <a:latin typeface="Bahnschrift Light SemiCondensed" panose="020B0502040204020203" pitchFamily="34" charset="0"/>
              </a:rPr>
            </a:br>
            <a:r>
              <a:rPr lang="en-IN" sz="2600" dirty="0">
                <a:latin typeface="Bahnschrift Light SemiCondensed" panose="020B0502040204020203" pitchFamily="34" charset="0"/>
              </a:rPr>
              <a:t>• GUI interface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91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43</TotalTime>
  <Words>465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Bahnschrift Light SemiCondensed</vt:lpstr>
      <vt:lpstr>Calibri</vt:lpstr>
      <vt:lpstr>Trade Gothic LT Pro</vt:lpstr>
      <vt:lpstr>Trebuchet MS</vt:lpstr>
      <vt:lpstr>Office Theme</vt:lpstr>
      <vt:lpstr>Travel Booking Platform   Destination Connection Graph System    </vt:lpstr>
      <vt:lpstr>Problem statement</vt:lpstr>
      <vt:lpstr>Real-world application</vt:lpstr>
      <vt:lpstr>Data structure used</vt:lpstr>
      <vt:lpstr>PowerPoint Presentation</vt:lpstr>
      <vt:lpstr>System design</vt:lpstr>
      <vt:lpstr>algorithm</vt:lpstr>
      <vt:lpstr>Implementation</vt:lpstr>
      <vt:lpstr>Sample output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 Reddy Yeddula</dc:creator>
  <cp:lastModifiedBy>Manoj Kumar Reddy Yeddula</cp:lastModifiedBy>
  <cp:revision>1</cp:revision>
  <dcterms:created xsi:type="dcterms:W3CDTF">2026-04-09T10:36:19Z</dcterms:created>
  <dcterms:modified xsi:type="dcterms:W3CDTF">2026-04-09T11:20:15Z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