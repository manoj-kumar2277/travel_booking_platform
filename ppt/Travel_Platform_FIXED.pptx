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731520"/>
            <a:ext cx="4114800" cy="411480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286000"/>
            <a:ext cx="3657600" cy="3657600"/>
          </a:xfrm>
          <a:prstGeom prst="ellipse">
            <a:avLst/>
          </a:prstGeom>
          <a:solidFill>
            <a:srgbClr val="0891B2">
              <a:alpha val="28000"/>
            </a:srgbClr>
          </a:solidFill>
          <a:ln w="12700">
            <a:solidFill>
              <a:srgbClr val="0891B2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3474720"/>
            <a:ext cx="2286000" cy="2286000"/>
          </a:xfrm>
          <a:prstGeom prst="ellipse">
            <a:avLst/>
          </a:prstGeom>
          <a:solidFill>
            <a:srgbClr val="F43F5E">
              <a:alpha val="20000"/>
            </a:srgbClr>
          </a:solidFill>
          <a:ln w="12700">
            <a:solidFill>
              <a:srgbClr val="F43F5E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68680"/>
            <a:ext cx="2560320" cy="320040"/>
          </a:xfrm>
          <a:prstGeom prst="rect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0F0A1E"/>
                </a:solidFill>
              </a:rPr>
              <a:t>C PROGRAMMING  ·  DSA PROJECT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82296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Travel Booking</a:t>
            </a:r>
            <a:endParaRPr lang="en-US" sz="5800" dirty="0"/>
          </a:p>
          <a:p>
            <a:pPr indent="0" marL="0">
              <a:buNone/>
            </a:pPr>
            <a:r>
              <a:rPr lang="en-US" sz="58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</a:t>
            </a:r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System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36576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023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Manoj Kumar Reddy  ·  Kushi Baira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t_network.jpg">    </p:cNvPr>
          <p:cNvPicPr>
            <a:picLocks noChangeAspect="1"/>
          </p:cNvPicPr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5303520" y="0"/>
            <a:ext cx="38404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1E2761">
              <a:alpha val="50000"/>
            </a:srgbClr>
          </a:solidFill>
          <a:ln w="12700">
            <a:solidFill>
              <a:srgbClr val="1E2761">
                <a:alpha val="5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303520" cy="777240"/>
          </a:xfrm>
          <a:prstGeom prst="rect">
            <a:avLst/>
          </a:prstGeom>
          <a:solidFill>
            <a:srgbClr val="0D1B4B">
              <a:alpha val="80000"/>
            </a:srgbClr>
          </a:solidFill>
          <a:ln w="12700">
            <a:solidFill>
              <a:srgbClr val="0D1B4B">
                <a:alpha val="8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/  Problem Statement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960120"/>
            <a:ext cx="4754880" cy="1691640"/>
          </a:xfrm>
          <a:prstGeom prst="rect">
            <a:avLst/>
          </a:prstGeom>
          <a:solidFill>
            <a:srgbClr val="1E2761">
              <a:alpha val="85000"/>
            </a:srgbClr>
          </a:solidFill>
          <a:ln w="25400">
            <a:solidFill>
              <a:srgbClr val="F43F5E"/>
            </a:solidFill>
            <a:prstDash val="solid"/>
          </a:ln>
          <a:effectLst>
            <a:outerShdw sx="100000" sy="100000" kx="0" ky="0" algn="bl" rotWithShape="0" blurRad="1612900000" dist="483870000" dir="486000000000">
              <a:srgbClr val="000000">
                <a:alpha val="200000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960120"/>
            <a:ext cx="109728" cy="16916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058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1307592"/>
            <a:ext cx="4389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travel routes between multiple destinations manually is difficult and inefficient. Travel agencies need a system to easily manage destinations, routes, and travel prices.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4320" y="2834640"/>
            <a:ext cx="4754880" cy="1691640"/>
          </a:xfrm>
          <a:prstGeom prst="rect">
            <a:avLst/>
          </a:prstGeom>
          <a:solidFill>
            <a:srgbClr val="1E2761">
              <a:alpha val="85000"/>
            </a:srgbClr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612900000" dist="483870000" dir="486000000000">
              <a:srgbClr val="000000">
                <a:alpha val="200000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2834640"/>
            <a:ext cx="109728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28803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3182112"/>
            <a:ext cx="4389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 program using Graph Data Structure with full CRUD operations and persistent file storage for travel agencies.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577840" y="914400"/>
            <a:ext cx="3200400" cy="548640"/>
          </a:xfrm>
          <a:prstGeom prst="rect">
            <a:avLst/>
          </a:prstGeom>
          <a:solidFill>
            <a:srgbClr val="4338CA">
              <a:alpha val="6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77840" y="914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Route Management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577840" y="1901952"/>
            <a:ext cx="3200400" cy="548640"/>
          </a:xfrm>
          <a:prstGeom prst="rect">
            <a:avLst/>
          </a:prstGeom>
          <a:solidFill>
            <a:srgbClr val="4338CA">
              <a:alpha val="6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77840" y="19019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CRUD Operations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577840" y="2889504"/>
            <a:ext cx="3200400" cy="548640"/>
          </a:xfrm>
          <a:prstGeom prst="rect">
            <a:avLst/>
          </a:prstGeom>
          <a:solidFill>
            <a:srgbClr val="4338CA">
              <a:alpha val="6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77840" y="288950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Graph Structure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577840" y="3877056"/>
            <a:ext cx="3200400" cy="548640"/>
          </a:xfrm>
          <a:prstGeom prst="rect">
            <a:avLst/>
          </a:prstGeom>
          <a:solidFill>
            <a:srgbClr val="4338CA">
              <a:alpha val="6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77840" y="387705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File Persistence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0A1E">
              <a:alpha val="90000"/>
            </a:srgbClr>
          </a:solidFill>
          <a:ln w="12700">
            <a:solidFill>
              <a:srgbClr val="0F0A1E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/  Real-World Applications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93392" cy="2423160"/>
          </a:xfrm>
          <a:prstGeom prst="rect">
            <a:avLst/>
          </a:prstGeom>
          <a:solidFill>
            <a:srgbClr val="0369A1">
              <a:alpha val="80000"/>
            </a:srgbClr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1612900000" dist="483870000" dir="486000000000">
              <a:srgbClr val="000000">
                <a:alpha val="20000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3816" y="1097280"/>
            <a:ext cx="914400" cy="914400"/>
          </a:xfrm>
          <a:prstGeom prst="ellipse">
            <a:avLst/>
          </a:prstGeom>
          <a:solidFill>
            <a:srgbClr val="38BDF8">
              <a:alpha val="78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1097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2103120"/>
            <a:ext cx="199339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Route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50592" y="960120"/>
            <a:ext cx="1993392" cy="2423160"/>
          </a:xfrm>
          <a:prstGeom prst="rect">
            <a:avLst/>
          </a:prstGeom>
          <a:solidFill>
            <a:srgbClr val="047857">
              <a:alpha val="80000"/>
            </a:srgbClr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612900000" dist="483870000" dir="486000000000">
              <a:srgbClr val="000000">
                <a:alpha val="20000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90088" y="1097280"/>
            <a:ext cx="914400" cy="914400"/>
          </a:xfrm>
          <a:prstGeom prst="ellipse">
            <a:avLst/>
          </a:prstGeom>
          <a:solidFill>
            <a:srgbClr val="10B981">
              <a:alpha val="78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0088" y="1097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🚆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50592" y="2103120"/>
            <a:ext cx="199339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Bus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26864" y="960120"/>
            <a:ext cx="1993392" cy="2423160"/>
          </a:xfrm>
          <a:prstGeom prst="rect">
            <a:avLst/>
          </a:prstGeom>
          <a:solidFill>
            <a:srgbClr val="92400E">
              <a:alpha val="80000"/>
            </a:srgbClr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612900000" dist="483870000" dir="486000000000">
              <a:srgbClr val="000000">
                <a:alpha val="20000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166360" y="1097280"/>
            <a:ext cx="914400" cy="914400"/>
          </a:xfrm>
          <a:prstGeom prst="ellipse">
            <a:avLst/>
          </a:prstGeom>
          <a:solidFill>
            <a:srgbClr val="F59E0B">
              <a:alpha val="78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1097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🏙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26864" y="2103120"/>
            <a:ext cx="199339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Transport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03136" y="960120"/>
            <a:ext cx="1993392" cy="2423160"/>
          </a:xfrm>
          <a:prstGeom prst="rect">
            <a:avLst/>
          </a:prstGeom>
          <a:solidFill>
            <a:srgbClr val="9F1239">
              <a:alpha val="80000"/>
            </a:srgbClr>
          </a:solidFill>
          <a:ln w="25400">
            <a:solidFill>
              <a:srgbClr val="F43F5E"/>
            </a:solidFill>
            <a:prstDash val="solid"/>
          </a:ln>
          <a:effectLst>
            <a:outerShdw sx="100000" sy="100000" kx="0" ky="0" algn="bl" rotWithShape="0" blurRad="1612900000" dist="483870000" dir="486000000000">
              <a:srgbClr val="000000">
                <a:alpha val="20000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42632" y="1097280"/>
            <a:ext cx="914400" cy="914400"/>
          </a:xfrm>
          <a:prstGeom prst="ellipse">
            <a:avLst/>
          </a:prstGeom>
          <a:solidFill>
            <a:srgbClr val="F43F5E">
              <a:alpha val="78000"/>
            </a:srgbClr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42632" y="1097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03136" y="2103120"/>
            <a:ext cx="199339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Route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47872"/>
            <a:ext cx="8595360" cy="1298448"/>
          </a:xfrm>
          <a:prstGeom prst="rect">
            <a:avLst/>
          </a:prstGeom>
          <a:solidFill>
            <a:srgbClr val="0D1B4B">
              <a:alpha val="65000"/>
            </a:srgbClr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0273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4005072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39776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route search across all cities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55848" y="400507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48456" y="39776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Lightning-fast price updates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08776" y="400507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01384" y="39776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destination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0A1E">
              <a:alpha val="90000"/>
            </a:srgbClr>
          </a:solidFill>
          <a:ln w="12700">
            <a:solidFill>
              <a:srgbClr val="0F0A1E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/  Data Structure Used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1078992"/>
          </a:xfrm>
          <a:prstGeom prst="rect">
            <a:avLst/>
          </a:prstGeom>
          <a:solidFill>
            <a:srgbClr val="1E2761">
              <a:alpha val="80000"/>
            </a:srgbClr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612900000" dist="483870000" dir="486000000000">
              <a:srgbClr val="000000">
                <a:alpha val="20000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097280" cy="1078992"/>
          </a:xfrm>
          <a:prstGeom prst="rect">
            <a:avLst/>
          </a:prstGeom>
          <a:solidFill>
            <a:srgbClr val="06B6D4">
              <a:alpha val="78000"/>
            </a:srgbClr>
          </a:solidFill>
          <a:ln w="12700">
            <a:solidFill>
              <a:srgbClr val="06B6D4">
                <a:alpha val="7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1097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Node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81328" y="10058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city / destination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240280"/>
            <a:ext cx="3931920" cy="1078992"/>
          </a:xfrm>
          <a:prstGeom prst="rect">
            <a:avLst/>
          </a:prstGeom>
          <a:solidFill>
            <a:srgbClr val="1E2761">
              <a:alpha val="80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612900000" dist="483870000" dir="486000000000">
              <a:srgbClr val="000000">
                <a:alpha val="20000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240280"/>
            <a:ext cx="1097280" cy="1078992"/>
          </a:xfrm>
          <a:prstGeom prst="rect">
            <a:avLst/>
          </a:prstGeom>
          <a:solidFill>
            <a:srgbClr val="7C3AED">
              <a:alpha val="78000"/>
            </a:srgbClr>
          </a:solidFill>
          <a:ln w="12700">
            <a:solidFill>
              <a:srgbClr val="7C3AED">
                <a:alpha val="7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240280"/>
            <a:ext cx="1097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Edge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81328" y="22860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between two cities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520440"/>
            <a:ext cx="3931920" cy="1078992"/>
          </a:xfrm>
          <a:prstGeom prst="rect">
            <a:avLst/>
          </a:prstGeom>
          <a:solidFill>
            <a:srgbClr val="1E2761">
              <a:alpha val="80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612900000" dist="483870000" dir="486000000000">
              <a:srgbClr val="000000">
                <a:alpha val="20000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520440"/>
            <a:ext cx="1097280" cy="1078992"/>
          </a:xfrm>
          <a:prstGeom prst="rect">
            <a:avLst/>
          </a:prstGeom>
          <a:solidFill>
            <a:srgbClr val="F59E0B">
              <a:alpha val="78000"/>
            </a:srgbClr>
          </a:solidFill>
          <a:ln w="12700">
            <a:solidFill>
              <a:srgbClr val="F59E0B">
                <a:alpha val="7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520440"/>
            <a:ext cx="1097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Weight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81328" y="3566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price (₹)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914400"/>
            <a:ext cx="4297680" cy="3931920"/>
          </a:xfrm>
          <a:prstGeom prst="rect">
            <a:avLst/>
          </a:prstGeom>
          <a:solidFill>
            <a:srgbClr val="0D1B4B">
              <a:alpha val="85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612900000" dist="483870000" dir="486000000000">
              <a:srgbClr val="000000">
                <a:alpha val="20000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9784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Adjacency Matrix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1728" y="1444752"/>
            <a:ext cx="960120" cy="402336"/>
          </a:xfrm>
          <a:prstGeom prst="rect">
            <a:avLst/>
          </a:prstGeom>
          <a:solidFill>
            <a:srgbClr val="1E2761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144475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50992" y="1444752"/>
            <a:ext cx="1024128" cy="402336"/>
          </a:xfrm>
          <a:prstGeom prst="rect">
            <a:avLst/>
          </a:prstGeom>
          <a:solidFill>
            <a:srgbClr val="4338CA">
              <a:alpha val="85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50992" y="1444752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Chennai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75120" y="1444752"/>
            <a:ext cx="1024128" cy="402336"/>
          </a:xfrm>
          <a:prstGeom prst="rect">
            <a:avLst/>
          </a:prstGeom>
          <a:solidFill>
            <a:srgbClr val="4338CA">
              <a:alpha val="85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1444752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Delhi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99248" y="1444752"/>
            <a:ext cx="1024128" cy="402336"/>
          </a:xfrm>
          <a:prstGeom prst="rect">
            <a:avLst/>
          </a:prstGeom>
          <a:solidFill>
            <a:srgbClr val="4338CA">
              <a:alpha val="85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99248" y="1444752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Mumbai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81728" y="1901952"/>
            <a:ext cx="960120" cy="457200"/>
          </a:xfrm>
          <a:prstGeom prst="rect">
            <a:avLst/>
          </a:prstGeom>
          <a:solidFill>
            <a:srgbClr val="4338CA">
              <a:alpha val="85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190195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Chennai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50992" y="1901952"/>
            <a:ext cx="1024128" cy="457200"/>
          </a:xfrm>
          <a:prstGeom prst="rect">
            <a:avLst/>
          </a:prstGeom>
          <a:solidFill>
            <a:srgbClr val="1E2761">
              <a:alpha val="70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50992" y="1901952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75120" y="1901952"/>
            <a:ext cx="1024128" cy="457200"/>
          </a:xfrm>
          <a:prstGeom prst="rect">
            <a:avLst/>
          </a:prstGeom>
          <a:solidFill>
            <a:srgbClr val="0D1B4B">
              <a:alpha val="55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1901952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₹5,000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699248" y="1901952"/>
            <a:ext cx="1024128" cy="457200"/>
          </a:xfrm>
          <a:prstGeom prst="rect">
            <a:avLst/>
          </a:prstGeom>
          <a:solidFill>
            <a:srgbClr val="0D1B4B">
              <a:alpha val="55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99248" y="1901952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₹3,000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81728" y="2395728"/>
            <a:ext cx="960120" cy="457200"/>
          </a:xfrm>
          <a:prstGeom prst="rect">
            <a:avLst/>
          </a:prstGeom>
          <a:solidFill>
            <a:srgbClr val="4338CA">
              <a:alpha val="85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239572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Delhi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50992" y="2395728"/>
            <a:ext cx="1024128" cy="457200"/>
          </a:xfrm>
          <a:prstGeom prst="rect">
            <a:avLst/>
          </a:prstGeom>
          <a:solidFill>
            <a:srgbClr val="0D1B4B">
              <a:alpha val="55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50992" y="2395728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₹5,000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675120" y="2395728"/>
            <a:ext cx="1024128" cy="457200"/>
          </a:xfrm>
          <a:prstGeom prst="rect">
            <a:avLst/>
          </a:prstGeom>
          <a:solidFill>
            <a:srgbClr val="1E2761">
              <a:alpha val="70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2395728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699248" y="2395728"/>
            <a:ext cx="1024128" cy="457200"/>
          </a:xfrm>
          <a:prstGeom prst="rect">
            <a:avLst/>
          </a:prstGeom>
          <a:solidFill>
            <a:srgbClr val="0D1B4B">
              <a:alpha val="55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99248" y="2395728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₹2,500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681728" y="2889504"/>
            <a:ext cx="960120" cy="457200"/>
          </a:xfrm>
          <a:prstGeom prst="rect">
            <a:avLst/>
          </a:prstGeom>
          <a:solidFill>
            <a:srgbClr val="4338CA">
              <a:alpha val="85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81728" y="2889504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Mumbai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650992" y="2889504"/>
            <a:ext cx="1024128" cy="457200"/>
          </a:xfrm>
          <a:prstGeom prst="rect">
            <a:avLst/>
          </a:prstGeom>
          <a:solidFill>
            <a:srgbClr val="0D1B4B">
              <a:alpha val="55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50992" y="2889504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₹3,000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675120" y="2889504"/>
            <a:ext cx="1024128" cy="457200"/>
          </a:xfrm>
          <a:prstGeom prst="rect">
            <a:avLst/>
          </a:prstGeom>
          <a:solidFill>
            <a:srgbClr val="0D1B4B">
              <a:alpha val="55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75120" y="2889504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₹2,500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699248" y="2889504"/>
            <a:ext cx="1024128" cy="457200"/>
          </a:xfrm>
          <a:prstGeom prst="rect">
            <a:avLst/>
          </a:prstGeom>
          <a:solidFill>
            <a:srgbClr val="1E2761">
              <a:alpha val="70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99248" y="2889504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0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709160" y="431596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represent travel prices in Indian Rupees (₹)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0A1E">
              <a:alpha val="90000"/>
            </a:srgbClr>
          </a:solidFill>
          <a:ln w="12700">
            <a:solidFill>
              <a:srgbClr val="0F0A1E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/  Core Data Structure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029200" cy="3931920"/>
          </a:xfrm>
          <a:prstGeom prst="rect">
            <a:avLst/>
          </a:prstGeom>
          <a:solidFill>
            <a:srgbClr val="111827"/>
          </a:solidFill>
          <a:ln w="19050">
            <a:solidFill>
              <a:srgbClr val="4338CA"/>
            </a:solidFill>
            <a:prstDash val="solid"/>
          </a:ln>
          <a:effectLst>
            <a:outerShdw sx="100000" sy="100000" kx="0" ky="0" algn="bl" rotWithShape="0" blurRad="1612900000" dist="483870000" dir="486000000000">
              <a:srgbClr val="000000">
                <a:alpha val="20000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4241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104241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" y="104241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98755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TravelGraph  —  typedef struct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86537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 </a:t>
            </a:r>
            <a:pPr indent="0" marL="0">
              <a:buNone/>
            </a:pPr>
            <a:r>
              <a:rPr lang="en-US" sz="15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destinations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[MAX][50];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235915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 </a:t>
            </a:r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[MAX][MAX];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285292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 </a:t>
            </a:r>
            <a:pPr indent="0" marL="0">
              <a:buNone/>
            </a:pPr>
            <a:r>
              <a:rPr lang="en-US" sz="15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destCount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34670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pPr indent="0" marL="0">
              <a:buNone/>
            </a:pPr>
            <a:r>
              <a:rPr lang="en-US" sz="1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TravelGraph</a:t>
            </a:r>
            <a:pPr indent="0" marL="0">
              <a:buNone/>
            </a:pPr>
            <a:r>
              <a:rPr lang="en-US" sz="15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577840" y="914400"/>
            <a:ext cx="3291840" cy="1170432"/>
          </a:xfrm>
          <a:prstGeom prst="rect">
            <a:avLst/>
          </a:prstGeom>
          <a:solidFill>
            <a:srgbClr val="1E2761">
              <a:alpha val="80000"/>
            </a:srgbClr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612900000" dist="483870000" dir="486000000000">
              <a:srgbClr val="000000">
                <a:alpha val="200000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77840" y="914400"/>
            <a:ext cx="91440" cy="1170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42432" y="96926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destinations[][]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42432" y="1316736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name array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(max MAX destinations)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77840" y="2240280"/>
            <a:ext cx="3291840" cy="1170432"/>
          </a:xfrm>
          <a:prstGeom prst="rect">
            <a:avLst/>
          </a:prstGeom>
          <a:solidFill>
            <a:srgbClr val="1E2761">
              <a:alpha val="80000"/>
            </a:srgbClr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612900000" dist="483870000" dir="486000000000">
              <a:srgbClr val="000000">
                <a:alpha val="20000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77840" y="2240280"/>
            <a:ext cx="91440" cy="11704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42432" y="229514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graph[][]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42432" y="2642616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matrix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(route prices as weights)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77840" y="3566160"/>
            <a:ext cx="3291840" cy="1170432"/>
          </a:xfrm>
          <a:prstGeom prst="rect">
            <a:avLst/>
          </a:prstGeom>
          <a:solidFill>
            <a:srgbClr val="1E2761">
              <a:alpha val="80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612900000" dist="483870000" dir="486000000000">
              <a:srgbClr val="000000">
                <a:alpha val="200000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77840" y="3566160"/>
            <a:ext cx="91440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42432" y="362102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destCount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42432" y="3968496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currently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destinations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0A1E">
              <a:alpha val="90000"/>
            </a:srgbClr>
          </a:solidFill>
          <a:ln w="12700">
            <a:solidFill>
              <a:srgbClr val="0F0A1E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 /  System Design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11680" cy="1024128"/>
          </a:xfrm>
          <a:prstGeom prst="rect">
            <a:avLst/>
          </a:prstGeom>
          <a:solidFill>
            <a:srgbClr val="047857">
              <a:alpha val="72000"/>
            </a:srgbClr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612900000" dist="483870000" dir="486000000000">
              <a:srgbClr val="000000">
                <a:alpha val="20000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011680" cy="1188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33272"/>
            <a:ext cx="201168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Destination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50592" y="914400"/>
            <a:ext cx="2011680" cy="1024128"/>
          </a:xfrm>
          <a:prstGeom prst="rect">
            <a:avLst/>
          </a:prstGeom>
          <a:solidFill>
            <a:srgbClr val="0369A1">
              <a:alpha val="72000"/>
            </a:srgbClr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612900000" dist="483870000" dir="486000000000">
              <a:srgbClr val="000000">
                <a:alpha val="20000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450592" y="914400"/>
            <a:ext cx="2011680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1033272"/>
            <a:ext cx="201168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Route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26864" y="914400"/>
            <a:ext cx="2011680" cy="1024128"/>
          </a:xfrm>
          <a:prstGeom prst="rect">
            <a:avLst/>
          </a:prstGeom>
          <a:solidFill>
            <a:srgbClr val="9F1239">
              <a:alpha val="72000"/>
            </a:srgbClr>
          </a:solidFill>
          <a:ln w="19050">
            <a:solidFill>
              <a:srgbClr val="F43F5E"/>
            </a:solidFill>
            <a:prstDash val="solid"/>
          </a:ln>
          <a:effectLst>
            <a:outerShdw sx="100000" sy="100000" kx="0" ky="0" algn="bl" rotWithShape="0" blurRad="1612900000" dist="483870000" dir="486000000000">
              <a:srgbClr val="000000">
                <a:alpha val="20000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6864" y="914400"/>
            <a:ext cx="2011680" cy="11887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033272"/>
            <a:ext cx="201168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Route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03136" y="914400"/>
            <a:ext cx="2011680" cy="1024128"/>
          </a:xfrm>
          <a:prstGeom prst="rect">
            <a:avLst/>
          </a:prstGeom>
          <a:solidFill>
            <a:srgbClr val="92400E">
              <a:alpha val="72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612900000" dist="483870000" dir="486000000000">
              <a:srgbClr val="000000">
                <a:alpha val="20000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03136" y="914400"/>
            <a:ext cx="2011680" cy="118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03136" y="1033272"/>
            <a:ext cx="201168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Route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103120"/>
            <a:ext cx="2011680" cy="1024128"/>
          </a:xfrm>
          <a:prstGeom prst="rect">
            <a:avLst/>
          </a:prstGeom>
          <a:solidFill>
            <a:srgbClr val="5B21B6">
              <a:alpha val="72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612900000" dist="483870000" dir="486000000000">
              <a:srgbClr val="000000">
                <a:alpha val="20000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103120"/>
            <a:ext cx="2011680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221992"/>
            <a:ext cx="201168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Route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450592" y="2103120"/>
            <a:ext cx="2011680" cy="1024128"/>
          </a:xfrm>
          <a:prstGeom prst="rect">
            <a:avLst/>
          </a:prstGeom>
          <a:solidFill>
            <a:srgbClr val="9D174D">
              <a:alpha val="72000"/>
            </a:srgbClr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1612900000" dist="483870000" dir="486000000000">
              <a:srgbClr val="000000">
                <a:alpha val="200000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50592" y="2103120"/>
            <a:ext cx="2011680" cy="1188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50592" y="2221992"/>
            <a:ext cx="201168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Trip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26864" y="2103120"/>
            <a:ext cx="2011680" cy="1024128"/>
          </a:xfrm>
          <a:prstGeom prst="rect">
            <a:avLst/>
          </a:prstGeom>
          <a:solidFill>
            <a:srgbClr val="0E7490">
              <a:alpha val="72000"/>
            </a:srgbClr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612900000" dist="483870000" dir="486000000000">
              <a:srgbClr val="000000">
                <a:alpha val="200000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26864" y="2103120"/>
            <a:ext cx="2011680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26864" y="2221992"/>
            <a:ext cx="201168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Graph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310128"/>
            <a:ext cx="8595360" cy="1536192"/>
          </a:xfrm>
          <a:prstGeom prst="rect">
            <a:avLst/>
          </a:prstGeom>
          <a:solidFill>
            <a:srgbClr val="0F0A1E">
              <a:alpha val="6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364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FLOW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3730752"/>
            <a:ext cx="1261872" cy="475488"/>
          </a:xfrm>
          <a:prstGeom prst="rect">
            <a:avLst/>
          </a:prstGeom>
          <a:solidFill>
            <a:srgbClr val="10B981">
              <a:alpha val="78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730752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Start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673352" y="3968496"/>
            <a:ext cx="15544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0" y="3730752"/>
            <a:ext cx="1261872" cy="475488"/>
          </a:xfrm>
          <a:prstGeom prst="rect">
            <a:avLst/>
          </a:prstGeom>
          <a:solidFill>
            <a:srgbClr val="38BDF8">
              <a:alpha val="78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0" y="3730752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Load Data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090672" y="3968496"/>
            <a:ext cx="15544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46120" y="3730752"/>
            <a:ext cx="1261872" cy="475488"/>
          </a:xfrm>
          <a:prstGeom prst="rect">
            <a:avLst/>
          </a:prstGeom>
          <a:solidFill>
            <a:srgbClr val="7C3AED">
              <a:alpha val="78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46120" y="3730752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Show Menu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07992" y="3968496"/>
            <a:ext cx="15544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3730752"/>
            <a:ext cx="1261872" cy="475488"/>
          </a:xfrm>
          <a:prstGeom prst="rect">
            <a:avLst/>
          </a:prstGeom>
          <a:solidFill>
            <a:srgbClr val="F59E0B">
              <a:alpha val="78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3730752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Run Operation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25312" y="3968496"/>
            <a:ext cx="15544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80760" y="3730752"/>
            <a:ext cx="1261872" cy="475488"/>
          </a:xfrm>
          <a:prstGeom prst="rect">
            <a:avLst/>
          </a:prstGeom>
          <a:solidFill>
            <a:srgbClr val="F43F5E">
              <a:alpha val="78000"/>
            </a:srgbClr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80760" y="3730752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Save Data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342632" y="3968496"/>
            <a:ext cx="15544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98080" y="3730752"/>
            <a:ext cx="1261872" cy="475488"/>
          </a:xfrm>
          <a:prstGeom prst="rect">
            <a:avLst/>
          </a:prstGeom>
          <a:solidFill>
            <a:srgbClr val="EC4899">
              <a:alpha val="78000"/>
            </a:srgbClr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0" y="3730752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Exit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" y="431596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stored in:  travel.dat  (binary file persistence)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0A1E">
              <a:alpha val="90000"/>
            </a:srgbClr>
          </a:solidFill>
          <a:ln w="12700">
            <a:solidFill>
              <a:srgbClr val="0F0A1E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  /  Algorithm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868680"/>
          </a:xfrm>
          <a:prstGeom prst="rect">
            <a:avLst/>
          </a:prstGeom>
          <a:solidFill>
            <a:srgbClr val="1E2761">
              <a:alpha val="80000"/>
            </a:srgbClr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612900000" dist="483870000" dir="486000000000">
              <a:srgbClr val="000000">
                <a:alpha val="20000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658368" cy="868680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8BDF8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658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42416" y="96012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42416" y="125272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travel.dat into TravelGraph struct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01952"/>
            <a:ext cx="4023360" cy="868680"/>
          </a:xfrm>
          <a:prstGeom prst="rect">
            <a:avLst/>
          </a:prstGeom>
          <a:solidFill>
            <a:srgbClr val="1E2761">
              <a:alpha val="80000"/>
            </a:srgbClr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612900000" dist="483870000" dir="486000000000">
              <a:srgbClr val="000000">
                <a:alpha val="20000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01952"/>
            <a:ext cx="658368" cy="86868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01952"/>
            <a:ext cx="658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42416" y="194767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Display Menu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42416" y="22402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all available operations to the user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89504"/>
            <a:ext cx="4023360" cy="868680"/>
          </a:xfrm>
          <a:prstGeom prst="rect">
            <a:avLst/>
          </a:prstGeom>
          <a:solidFill>
            <a:srgbClr val="1E2761">
              <a:alpha val="80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612900000" dist="483870000" dir="486000000000">
              <a:srgbClr val="000000">
                <a:alpha val="200000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89504"/>
            <a:ext cx="658368" cy="86868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889504"/>
            <a:ext cx="658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42416" y="293522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 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42416" y="322783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selected CRUD or query operation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877056"/>
            <a:ext cx="4023360" cy="868680"/>
          </a:xfrm>
          <a:prstGeom prst="rect">
            <a:avLst/>
          </a:prstGeom>
          <a:solidFill>
            <a:srgbClr val="1E2761">
              <a:alpha val="80000"/>
            </a:srgbClr>
          </a:solidFill>
          <a:ln w="19050">
            <a:solidFill>
              <a:srgbClr val="F43F5E"/>
            </a:solidFill>
            <a:prstDash val="solid"/>
          </a:ln>
          <a:effectLst>
            <a:outerShdw sx="100000" sy="100000" kx="0" ky="0" algn="bl" rotWithShape="0" blurRad="1612900000" dist="483870000" dir="486000000000">
              <a:srgbClr val="000000">
                <a:alpha val="200000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877056"/>
            <a:ext cx="658368" cy="868680"/>
          </a:xfrm>
          <a:prstGeom prst="rect">
            <a:avLst/>
          </a:prstGeom>
          <a:solidFill>
            <a:srgbClr val="F43F5E">
              <a:alpha val="80000"/>
            </a:srgbClr>
          </a:solidFill>
          <a:ln w="12700">
            <a:solidFill>
              <a:srgbClr val="F43F5E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877056"/>
            <a:ext cx="658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42416" y="392277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Save Data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42416" y="421538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updated graph back to travel.dat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914400"/>
            <a:ext cx="4297680" cy="566928"/>
          </a:xfrm>
          <a:prstGeom prst="rect">
            <a:avLst/>
          </a:prstGeom>
          <a:solidFill>
            <a:srgbClr val="1E276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1728" y="950976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Destination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37960" y="950976"/>
            <a:ext cx="2240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Store new location in array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1572768"/>
            <a:ext cx="4297680" cy="566928"/>
          </a:xfrm>
          <a:prstGeom prst="rect">
            <a:avLst/>
          </a:prstGeom>
          <a:solidFill>
            <a:srgbClr val="1E2761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728" y="1609344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Route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37960" y="1609344"/>
            <a:ext cx="2240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Connect two nodes in matrix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2231136"/>
            <a:ext cx="4297680" cy="566928"/>
          </a:xfrm>
          <a:prstGeom prst="rect">
            <a:avLst/>
          </a:prstGeom>
          <a:solidFill>
            <a:srgbClr val="1E2761">
              <a:alpha val="7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2267712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Route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37960" y="2267712"/>
            <a:ext cx="2240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Set edge weight to 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2889504"/>
            <a:ext cx="4297680" cy="566928"/>
          </a:xfrm>
          <a:prstGeom prst="rect">
            <a:avLst/>
          </a:prstGeom>
          <a:solidFill>
            <a:srgbClr val="1E2761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1728" y="2926080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Route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37960" y="2926080"/>
            <a:ext cx="2240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Modify edge weight value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3547872"/>
            <a:ext cx="4297680" cy="566928"/>
          </a:xfrm>
          <a:prstGeom prst="rect">
            <a:avLst/>
          </a:prstGeom>
          <a:solidFill>
            <a:srgbClr val="1E2761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1728" y="3584448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Route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37960" y="3584448"/>
            <a:ext cx="2240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Read matrix cell value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4206240"/>
            <a:ext cx="4297680" cy="566928"/>
          </a:xfrm>
          <a:prstGeom prst="rect">
            <a:avLst/>
          </a:prstGeom>
          <a:solidFill>
            <a:srgbClr val="1E2761">
              <a:alpha val="7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1728" y="4242816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Trip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37960" y="4242816"/>
            <a:ext cx="2240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Sum multi-hop path cost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t_graph.jp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0A1E">
              <a:alpha val="90000"/>
            </a:srgbClr>
          </a:solidFill>
          <a:ln w="12700">
            <a:solidFill>
              <a:srgbClr val="0F0A1E">
                <a:alpha val="9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 /  Sample Output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274320" y="914400"/>
            <a:ext cx="4754880" cy="3931920"/>
          </a:xfrm>
          <a:prstGeom prst="rect">
            <a:avLst/>
          </a:prstGeom>
          <a:solidFill>
            <a:srgbClr val="0D1117"/>
          </a:solidFill>
          <a:ln w="19050">
            <a:solidFill>
              <a:srgbClr val="4338CA"/>
            </a:solidFill>
            <a:prstDash val="solid"/>
          </a:ln>
          <a:effectLst>
            <a:outerShdw sx="100000" sy="100000" kx="0" ky="0" algn="bl" rotWithShape="0" blurRad="1612900000" dist="483870000" dir="486000000000">
              <a:srgbClr val="000000">
                <a:alpha val="20000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914400"/>
            <a:ext cx="475488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75488" y="1005840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" y="100584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24128" y="1005840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71600" y="9509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— travel_booking.exe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" y="135331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TRAVEL BOOKING SYSTEM ===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11480" y="157276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Add Destination    2. Add Route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11480" y="1792224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Delete Route       4. Update Route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11480" y="201168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Search Route       6. Book Trip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11480" y="2231136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Display Graph      0. Exit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11480" y="267004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choice: 5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11480" y="2889504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source destination: CHENNAI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11480" y="310896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target destination: DELHI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11480" y="354787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Travel cost: Rs.5,000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11480" y="376732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found successfully!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303520" y="1371600"/>
            <a:ext cx="3566160" cy="594360"/>
          </a:xfrm>
          <a:prstGeom prst="rect">
            <a:avLst/>
          </a:prstGeom>
          <a:solidFill>
            <a:srgbClr val="1E2761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40680" y="1481328"/>
            <a:ext cx="219456" cy="21945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60720" y="144475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Console Interface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303520" y="2194560"/>
            <a:ext cx="3566160" cy="594360"/>
          </a:xfrm>
          <a:prstGeom prst="rect">
            <a:avLst/>
          </a:prstGeom>
          <a:solidFill>
            <a:srgbClr val="1E276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40680" y="2304288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760720" y="22677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Route Search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303520" y="3017520"/>
            <a:ext cx="3566160" cy="594360"/>
          </a:xfrm>
          <a:prstGeom prst="rect">
            <a:avLst/>
          </a:prstGeom>
          <a:solidFill>
            <a:srgbClr val="1E2761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40680" y="3127248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60720" y="30906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 Calculation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303520" y="3840480"/>
            <a:ext cx="3566160" cy="594360"/>
          </a:xfrm>
          <a:prstGeom prst="rect">
            <a:avLst/>
          </a:prstGeom>
          <a:solidFill>
            <a:srgbClr val="1E2761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440680" y="3950208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760720" y="39136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Pair Lookup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0A1E">
              <a:alpha val="90000"/>
            </a:srgbClr>
          </a:solidFill>
          <a:ln w="12700">
            <a:solidFill>
              <a:srgbClr val="0F0A1E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  /  Program Implementation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94360"/>
          </a:xfrm>
          <a:prstGeom prst="rect">
            <a:avLst/>
          </a:prstGeom>
          <a:solidFill>
            <a:srgbClr val="4338CA">
              <a:alpha val="75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</a:t>
            </a:r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Style: 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Console Application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4206240" cy="1371600"/>
          </a:xfrm>
          <a:prstGeom prst="rect">
            <a:avLst/>
          </a:prstGeom>
          <a:solidFill>
            <a:srgbClr val="1E2761">
              <a:alpha val="80000"/>
            </a:srgbClr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612900000" dist="483870000" dir="486000000000">
              <a:srgbClr val="000000">
                <a:alpha val="20000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91640"/>
            <a:ext cx="91440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013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88720" y="178308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 Data Structure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16712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matrix models all city connections and route prices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691640"/>
            <a:ext cx="4206240" cy="1371600"/>
          </a:xfrm>
          <a:prstGeom prst="rect">
            <a:avLst/>
          </a:prstGeom>
          <a:solidFill>
            <a:srgbClr val="1E2761">
              <a:alpha val="80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612900000" dist="483870000" dir="486000000000">
              <a:srgbClr val="000000">
                <a:alpha val="20000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691640"/>
            <a:ext cx="91440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8013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🧱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623560" y="178308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Structures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23560" y="216712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typedef TravelGraph keeps destination names and matrix together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227832"/>
            <a:ext cx="4206240" cy="1371600"/>
          </a:xfrm>
          <a:prstGeom prst="rect">
            <a:avLst/>
          </a:prstGeom>
          <a:solidFill>
            <a:srgbClr val="1E2761">
              <a:alpha val="80000"/>
            </a:srgbClr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612900000" dist="483870000" dir="486000000000">
              <a:srgbClr val="000000">
                <a:alpha val="20000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227832"/>
            <a:ext cx="9144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88720" y="331927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Handling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370332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persistence via travel.dat — data survives program exit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3227832"/>
            <a:ext cx="4206240" cy="1371600"/>
          </a:xfrm>
          <a:prstGeom prst="rect">
            <a:avLst/>
          </a:prstGeom>
          <a:solidFill>
            <a:srgbClr val="1E2761">
              <a:alpha val="80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612900000" dist="483870000" dir="486000000000">
              <a:srgbClr val="000000">
                <a:alpha val="200000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227832"/>
            <a:ext cx="91440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623560" y="331927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CRUD Operations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23560" y="370332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create, read, update &amp; delete on all routes and cities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0A1E">
              <a:alpha val="90000"/>
            </a:srgbClr>
          </a:solidFill>
          <a:ln w="12700">
            <a:solidFill>
              <a:srgbClr val="0F0A1E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 /  Conclusion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58368"/>
          </a:xfrm>
          <a:prstGeom prst="rect">
            <a:avLst/>
          </a:prstGeom>
          <a:solidFill>
            <a:srgbClr val="4338CA">
              <a:alpha val="75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Successfully implemented a Travel Booking Platform using Graph Data Structure in C.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4114800" cy="3063240"/>
          </a:xfrm>
          <a:prstGeom prst="rect">
            <a:avLst/>
          </a:prstGeom>
          <a:solidFill>
            <a:srgbClr val="1E2761">
              <a:alpha val="80000"/>
            </a:srgbClr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612900000" dist="483870000" dir="486000000000">
              <a:srgbClr val="000000">
                <a:alpha val="20000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8013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267712"/>
            <a:ext cx="20116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2494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and route management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20116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8529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adjacency matrix representation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20116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34564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 for data persistence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078224"/>
            <a:ext cx="20116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40599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user interaction system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737360"/>
            <a:ext cx="4114800" cy="3063240"/>
          </a:xfrm>
          <a:prstGeom prst="rect">
            <a:avLst/>
          </a:prstGeom>
          <a:solidFill>
            <a:srgbClr val="1E2761">
              <a:alpha val="80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612900000" dist="483870000" dir="486000000000">
              <a:srgbClr val="000000">
                <a:alpha val="20000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18013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37760" y="230428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227685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57800" y="25420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shortest path efficiently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37760" y="312724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309981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Booking System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3649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 integration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395020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392277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Interface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57800" y="418795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user experience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926080"/>
            <a:ext cx="5029200" cy="5029200"/>
          </a:xfrm>
          <a:prstGeom prst="ellipse">
            <a:avLst/>
          </a:prstGeom>
          <a:solidFill>
            <a:srgbClr val="7C3AED">
              <a:alpha val="28000"/>
            </a:srgbClr>
          </a:solidFill>
          <a:ln w="12700">
            <a:solidFill>
              <a:srgbClr val="7C3AED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3200400"/>
            <a:ext cx="2926080" cy="2926080"/>
          </a:xfrm>
          <a:prstGeom prst="ellipse">
            <a:avLst/>
          </a:prstGeom>
          <a:solidFill>
            <a:srgbClr val="F43F5E">
              <a:alpha val="22000"/>
            </a:srgbClr>
          </a:solidFill>
          <a:ln w="12700">
            <a:solidFill>
              <a:srgbClr val="F43F5E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 </a:t>
            </a:r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74720" y="3246120"/>
            <a:ext cx="21945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Manoj Kumar Reddy  ·  Kushi Baira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Booking Platform  |  Graph DSA  |  C Programming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 Booking Platform</dc:title>
  <dc:subject>Graph DSA – C Programming Project</dc:subject>
  <dc:creator>Manoj Kumar Reddy &amp; Kushi Baira</dc:creator>
  <cp:lastModifiedBy>Manoj Kumar Reddy &amp; Kushi Baira</cp:lastModifiedBy>
  <cp:revision>1</cp:revision>
  <dcterms:created xsi:type="dcterms:W3CDTF">2026-04-30T14:09:01Z</dcterms:created>
  <dcterms:modified xsi:type="dcterms:W3CDTF">2026-04-30T14:09:01Z</dcterms:modified>
</cp:coreProperties>
</file>